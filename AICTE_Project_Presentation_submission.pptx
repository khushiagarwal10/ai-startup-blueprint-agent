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73" r:id="rId12"/>
    <p:sldId id="266" r:id="rId13"/>
    <p:sldId id="267" r:id="rId14"/>
    <p:sldId id="268" r:id="rId15"/>
    <p:sldId id="269" r:id="rId16"/>
    <p:sldId id="272" r:id="rId17"/>
    <p:sldId id="270" r:id="rId18"/>
    <p:sldId id="271"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7" d="100"/>
          <a:sy n="67" d="100"/>
        </p:scale>
        <p:origin x="-840" y="-96"/>
      </p:cViewPr>
      <p:guideLst>
        <p:guide orient="horz" pos="2160"/>
        <p:guide pos="384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KhushiAgarwal10/AI-Startup-Blueprint-Agent"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dirty="0"/>
              <a:t>IBM University Engagement Project Submission</a:t>
            </a:r>
            <a:r>
              <a:rPr lang="en-US" b="1" dirty="0"/>
              <a:t/>
            </a:r>
            <a:br>
              <a:rPr lang="en-US" b="1" dirty="0"/>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lvl="0" algn="ctr"/>
            <a:r>
              <a:rPr lang="en-US" dirty="0" smtClean="0"/>
              <a:t>AI-Powered Startup Business Planning Assistant using IBM Granite &amp; IBM Business Automation Open Edition (BOB)</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nvGraphicFramePr>
        <p:xfrm>
          <a:off x="1299257" y="2600315"/>
          <a:ext cx="9395000" cy="2167125"/>
        </p:xfrm>
        <a:graphic>
          <a:graphicData uri="http://schemas.openxmlformats.org/drawingml/2006/table">
            <a:tbl>
              <a:tblPr>
                <a:noFill/>
                <a:tableStyleId>{F063BE5B-8E01-4B91-9C5C-8479B17E1E5F}</a:tableStyleId>
              </a:tblPr>
              <a:tblGrid>
                <a:gridCol w="2064875"/>
                <a:gridCol w="2443375"/>
                <a:gridCol w="2443375"/>
                <a:gridCol w="2443375"/>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smtClean="0"/>
                        <a:t>                                           KHUSHI AGARWAL</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smtClean="0"/>
                        <a:t> khushiagarwal16923@gmail.com</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smtClean="0"/>
                        <a:t>                           9389840824                             </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r>
            </a:tbl>
          </a:graphicData>
        </a:graphic>
      </p:graphicFrame>
      <p:sp>
        <p:nvSpPr>
          <p:cNvPr id="88" name="Google Shape;88;p2"/>
          <p:cNvSpPr txBox="1"/>
          <p:nvPr/>
        </p:nvSpPr>
        <p:spPr>
          <a:xfrm>
            <a:off x="1206164" y="1460724"/>
            <a:ext cx="10280254" cy="707846"/>
          </a:xfrm>
          <a:prstGeom prst="rect">
            <a:avLst/>
          </a:prstGeom>
          <a:noFill/>
          <a:ln>
            <a:noFill/>
          </a:ln>
        </p:spPr>
        <p:txBody>
          <a:bodyPr spcFirstLastPara="1" wrap="square" lIns="91425" tIns="45700" rIns="91425" bIns="45700" anchor="t" anchorCtr="0">
            <a:spAutoFit/>
          </a:bodyPr>
          <a:lstStyle/>
          <a:p>
            <a:pPr lvl="0"/>
            <a:r>
              <a:rPr lang="en-US" sz="2000" b="1" i="0" u="none" strike="noStrike" cap="none" dirty="0">
                <a:solidFill>
                  <a:srgbClr val="000000"/>
                </a:solidFill>
                <a:latin typeface="Arial"/>
                <a:ea typeface="Arial"/>
                <a:cs typeface="Arial"/>
                <a:sym typeface="Arial"/>
              </a:rPr>
              <a:t>Domain of  Project – </a:t>
            </a:r>
            <a:r>
              <a:rPr lang="en-US" sz="2000" dirty="0" smtClean="0"/>
              <a:t>Artificial Intelligence (AI), Generative AI, Entrepreneurship &amp; Startup Planning, Business Strategy and Decision Support</a:t>
            </a:r>
            <a:endParaRPr sz="2000" b="1" i="0" u="none" strike="noStrike" cap="none">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461665"/>
          </a:xfrm>
          <a:prstGeom prst="rect">
            <a:avLst/>
          </a:prstGeom>
          <a:noFill/>
          <a:ln>
            <a:noFill/>
          </a:ln>
        </p:spPr>
        <p:txBody>
          <a:bodyPr spcFirstLastPara="1" wrap="square" lIns="91425" tIns="45700" rIns="91425" bIns="45700" anchor="t" anchorCtr="0">
            <a:spAutoFit/>
          </a:bodyPr>
          <a:lstStyle/>
          <a:p>
            <a:pPr lvl="0"/>
            <a:r>
              <a:rPr lang="en-US" sz="2400" b="1" i="0" u="none" strike="noStrike" cap="none" dirty="0">
                <a:solidFill>
                  <a:srgbClr val="000000"/>
                </a:solidFill>
                <a:latin typeface="Arial"/>
                <a:ea typeface="Arial"/>
                <a:cs typeface="Arial"/>
                <a:sym typeface="Arial"/>
              </a:rPr>
              <a:t>Project Tile </a:t>
            </a:r>
            <a:r>
              <a:rPr lang="en-US" sz="2400" b="1" i="0" u="none" strike="noStrike" cap="none" dirty="0" smtClean="0">
                <a:solidFill>
                  <a:srgbClr val="000000"/>
                </a:solidFill>
                <a:latin typeface="Arial"/>
                <a:ea typeface="Arial"/>
                <a:cs typeface="Arial"/>
                <a:sym typeface="Arial"/>
              </a:rPr>
              <a:t>–</a:t>
            </a:r>
            <a:r>
              <a:rPr lang="en-US" sz="2400" dirty="0" smtClean="0"/>
              <a:t>Startup Blueprint AI Agent</a:t>
            </a:r>
            <a:r>
              <a:rPr lang="en-US" sz="2400" b="1" i="0" u="none" strike="noStrike" cap="none" dirty="0" smtClean="0">
                <a:solidFill>
                  <a:srgbClr val="000000"/>
                </a:solidFill>
                <a:latin typeface="Arial"/>
                <a:ea typeface="Arial"/>
                <a:cs typeface="Arial"/>
                <a:sym typeface="Arial"/>
              </a:rPr>
              <a:t> </a:t>
            </a:r>
            <a:endParaRPr sz="2400" b="1" i="0" u="none" strike="noStrike" cap="none">
              <a:solidFill>
                <a:srgbClr val="000000"/>
              </a:solidFill>
              <a:highlight>
                <a:srgbClr val="FFFF00"/>
              </a:highlight>
              <a:latin typeface="Arial"/>
              <a:ea typeface="Arial"/>
              <a:cs typeface="Arial"/>
              <a:sym typeface="Arial"/>
            </a:endParaRPr>
          </a:p>
        </p:txBody>
      </p:sp>
      <p:pic>
        <p:nvPicPr>
          <p:cNvPr id="10" name="Picture 9" descr="khushi_photo_ (1).jpg"/>
          <p:cNvPicPr>
            <a:picLocks noChangeAspect="1"/>
          </p:cNvPicPr>
          <p:nvPr/>
        </p:nvPicPr>
        <p:blipFill>
          <a:blip r:embed="rId3"/>
          <a:stretch>
            <a:fillRect/>
          </a:stretch>
        </p:blipFill>
        <p:spPr>
          <a:xfrm>
            <a:off x="3881422" y="3571876"/>
            <a:ext cx="1285884" cy="114300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2" y="1234440"/>
            <a:ext cx="10607040" cy="5262939"/>
          </a:xfrm>
          <a:prstGeom prst="rect">
            <a:avLst/>
          </a:prstGeom>
          <a:noFill/>
          <a:ln>
            <a:noFill/>
          </a:ln>
        </p:spPr>
        <p:txBody>
          <a:bodyPr spcFirstLastPara="1" wrap="square" lIns="91425" tIns="45700" rIns="91425" bIns="45700" anchor="t" anchorCtr="0">
            <a:spAutoFit/>
          </a:bodyPr>
          <a:lstStyle/>
          <a:p>
            <a:r>
              <a:rPr lang="en-US" b="1" dirty="0" smtClean="0"/>
              <a:t>Problem Statement: Startup Blueprint AI</a:t>
            </a:r>
          </a:p>
          <a:p>
            <a:endParaRPr lang="en-US" b="1" dirty="0" smtClean="0"/>
          </a:p>
          <a:p>
            <a:r>
              <a:rPr lang="en-US" b="1" u="sng" dirty="0" smtClean="0"/>
              <a:t>The Challenge</a:t>
            </a:r>
          </a:p>
          <a:p>
            <a:r>
              <a:rPr lang="en-US" dirty="0" smtClean="0"/>
              <a:t>Many aspiring entrepreneurs have innovative startup ideas but struggle to transform them into structured business plans. Developing a complete startup blueprint requires expertise in market research, business strategy, financial planning, competitor analysis, and investment readiness. Existing resources are often fragmented, time-consuming, or require expensive consultancy services. As a result, many promising ideas fail to progress beyond the concept stage due to the lack of accessible, AI-driven business guidance.</a:t>
            </a:r>
          </a:p>
          <a:p>
            <a:endParaRPr lang="en-US" dirty="0" smtClean="0"/>
          </a:p>
          <a:p>
            <a:r>
              <a:rPr lang="en-US" b="1" u="sng" dirty="0" smtClean="0"/>
              <a:t>The Objective</a:t>
            </a:r>
          </a:p>
          <a:p>
            <a:r>
              <a:rPr lang="en-US" dirty="0" smtClean="0"/>
              <a:t>Build an </a:t>
            </a:r>
            <a:r>
              <a:rPr lang="en-US" b="1" dirty="0" smtClean="0"/>
              <a:t>AI-powered Startup Blueprint Agent</a:t>
            </a:r>
            <a:r>
              <a:rPr lang="en-US" dirty="0" smtClean="0"/>
              <a:t> that helps entrepreneurs convert raw business ideas into comprehensive startup blueprints using </a:t>
            </a:r>
            <a:r>
              <a:rPr lang="en-US" b="1" dirty="0" smtClean="0"/>
              <a:t>IBM watsonx.ai Granite foundation models and IBM Bob</a:t>
            </a:r>
            <a:r>
              <a:rPr lang="en-US" dirty="0" smtClean="0"/>
              <a:t>. The solution should:</a:t>
            </a:r>
          </a:p>
          <a:p>
            <a:endParaRPr lang="en-US" dirty="0" smtClean="0"/>
          </a:p>
          <a:p>
            <a:r>
              <a:rPr lang="en-US" b="1" dirty="0" smtClean="0"/>
              <a:t>Idea Validation</a:t>
            </a:r>
            <a:r>
              <a:rPr lang="en-US" dirty="0" smtClean="0"/>
              <a:t> – Analyze startup ideas for feasibility, market potential, innovation, scalability, and business readiness. </a:t>
            </a:r>
          </a:p>
          <a:p>
            <a:r>
              <a:rPr lang="en-US" b="1" dirty="0" smtClean="0"/>
              <a:t>AI Blueprint Generation</a:t>
            </a:r>
            <a:r>
              <a:rPr lang="en-US" dirty="0" smtClean="0"/>
              <a:t> – Generate a complete startup blueprint including executive summary, business model, revenue strategy, SWOT analysis, competitor analysis, funding suggestions, marketing strategy, and growth roadmap. </a:t>
            </a:r>
          </a:p>
          <a:p>
            <a:r>
              <a:rPr lang="en-US" b="1" dirty="0" smtClean="0"/>
              <a:t>Business Readiness Scoring</a:t>
            </a:r>
            <a:r>
              <a:rPr lang="en-US" dirty="0" smtClean="0"/>
              <a:t> – Evaluate startup ideas and assign a readiness score with actionable recommendations for improvement. </a:t>
            </a:r>
          </a:p>
          <a:p>
            <a:r>
              <a:rPr lang="en-US" b="1" dirty="0" smtClean="0"/>
              <a:t>AI-Powered Business Assistance</a:t>
            </a:r>
            <a:r>
              <a:rPr lang="en-US" dirty="0" smtClean="0"/>
              <a:t> – Provide intelligent insights, investment suggestions, government startup schemes, and legal guidance tailored to the proposed business. </a:t>
            </a:r>
          </a:p>
          <a:p>
            <a:r>
              <a:rPr lang="en-US" b="1" dirty="0" smtClean="0"/>
              <a:t>Document Generation</a:t>
            </a:r>
            <a:r>
              <a:rPr lang="en-US" dirty="0" smtClean="0"/>
              <a:t> – Allow users to download professionally formatted startup blueprints as PDF reports. </a:t>
            </a:r>
          </a:p>
          <a:p>
            <a:r>
              <a:rPr lang="en-US" b="1" dirty="0" smtClean="0"/>
              <a:t>Interactive Web Application</a:t>
            </a:r>
            <a:r>
              <a:rPr lang="en-US" dirty="0" smtClean="0"/>
              <a:t> – Provide an intuitive Flask-based web interface with blueprint history, dashboard, and real-time AI-generated responses.</a:t>
            </a: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6" name="Google Shape;96;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Problem Statement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455468" y="1168656"/>
            <a:ext cx="10607040" cy="5693826"/>
          </a:xfrm>
          <a:prstGeom prst="rect">
            <a:avLst/>
          </a:prstGeom>
          <a:noFill/>
          <a:ln>
            <a:noFill/>
          </a:ln>
        </p:spPr>
        <p:txBody>
          <a:bodyPr spcFirstLastPara="1" wrap="square" lIns="91425" tIns="45700" rIns="91425" bIns="45700" anchor="t" anchorCtr="0">
            <a:spAutoFit/>
          </a:bodyPr>
          <a:lstStyle/>
          <a:p>
            <a:r>
              <a:rPr lang="en-US" b="1" dirty="0" smtClean="0"/>
              <a:t>Proposed Solution: AI-Powered Startup Blueprint Agent</a:t>
            </a:r>
          </a:p>
          <a:p>
            <a:endParaRPr lang="en-US" b="1" dirty="0" smtClean="0"/>
          </a:p>
          <a:p>
            <a:r>
              <a:rPr lang="en-US" dirty="0" smtClean="0"/>
              <a:t>The proposed solution is an </a:t>
            </a:r>
            <a:r>
              <a:rPr lang="en-US" b="1" dirty="0" smtClean="0"/>
              <a:t>AI-powered Startup Blueprint Agent</a:t>
            </a:r>
            <a:r>
              <a:rPr lang="en-US" dirty="0" smtClean="0"/>
              <a:t> built using  </a:t>
            </a:r>
            <a:r>
              <a:rPr lang="en-US" b="1" dirty="0" smtClean="0"/>
              <a:t>IBM watsonx.ai, IBM Bob, Granite Foundation Models, and Flask</a:t>
            </a:r>
            <a:r>
              <a:rPr lang="en-US" dirty="0" smtClean="0"/>
              <a:t> to help aspiring entrepreneurs transform business ideas into structured, investment-ready startup blueprints. The system addresses the challenges of business planning by providing intelligent idea validation, market analysis, financial planning, and strategic recommendations through an interactive AI-powered web application.</a:t>
            </a:r>
          </a:p>
          <a:p>
            <a:r>
              <a:rPr lang="en-US" dirty="0" smtClean="0"/>
              <a:t>At its core, the solution leverages </a:t>
            </a:r>
            <a:r>
              <a:rPr lang="en-US" b="1" dirty="0" smtClean="0"/>
              <a:t>IBM watsonx.ai Granite Models</a:t>
            </a:r>
            <a:r>
              <a:rPr lang="en-US" dirty="0" smtClean="0"/>
              <a:t> to analyze user-provided startup ideas and generate comprehensive business blueprints. The AI processes the input using carefully designed system prompts and produces structured outputs, including business strategy, revenue models, market opportunities, SWOT analysis, funding suggestions, legal guidance, and growth roadmaps. The application also evaluates the startup concept and assigns a </a:t>
            </a:r>
            <a:r>
              <a:rPr lang="en-US" b="1" dirty="0" smtClean="0"/>
              <a:t>Business Readiness Score</a:t>
            </a:r>
            <a:r>
              <a:rPr lang="en-US" dirty="0" smtClean="0"/>
              <a:t> to help entrepreneurs understand the viability of their ideas.</a:t>
            </a:r>
          </a:p>
          <a:p>
            <a:endParaRPr lang="en-US" dirty="0" smtClean="0"/>
          </a:p>
          <a:p>
            <a:r>
              <a:rPr lang="en-US" dirty="0" smtClean="0"/>
              <a:t>The system consists of four key AI modules:</a:t>
            </a:r>
          </a:p>
          <a:p>
            <a:r>
              <a:rPr lang="en-US" b="1" dirty="0" smtClean="0"/>
              <a:t>Idea Validation Module</a:t>
            </a:r>
            <a:r>
              <a:rPr lang="en-US" dirty="0" smtClean="0"/>
              <a:t> analyzes startup ideas for feasibility, innovation, market demand, scalability, and monetization potential before generating a blueprint. </a:t>
            </a:r>
          </a:p>
          <a:p>
            <a:r>
              <a:rPr lang="en-US" b="1" dirty="0" smtClean="0"/>
              <a:t>Blueprint Generation Module</a:t>
            </a:r>
            <a:r>
              <a:rPr lang="en-US" dirty="0" smtClean="0"/>
              <a:t> creates a detailed startup blueprint covering executive summary, target audience, business model, competitor analysis, marketing strategy, funding recommendations, and investor pitch. </a:t>
            </a:r>
          </a:p>
          <a:p>
            <a:r>
              <a:rPr lang="en-US" b="1" dirty="0" smtClean="0"/>
              <a:t>Business Insights Module</a:t>
            </a:r>
            <a:r>
              <a:rPr lang="en-US" dirty="0" smtClean="0"/>
              <a:t> provides AI-generated recommendations for government startup schemes, legal considerations, risk analysis, and business growth strategies. </a:t>
            </a:r>
          </a:p>
          <a:p>
            <a:r>
              <a:rPr lang="en-US" b="1" dirty="0" smtClean="0"/>
              <a:t>Report Generation Module</a:t>
            </a:r>
            <a:r>
              <a:rPr lang="en-US" dirty="0" smtClean="0"/>
              <a:t> converts the generated blueprint into a professionally formatted PDF report that users can download and share with investors or mentors. </a:t>
            </a:r>
          </a:p>
          <a:p>
            <a:r>
              <a:rPr lang="en-US" dirty="0" smtClean="0"/>
              <a:t>The solution includes a </a:t>
            </a:r>
            <a:r>
              <a:rPr lang="en-US" b="1" dirty="0" smtClean="0"/>
              <a:t>user-friendly Flask-based web application</a:t>
            </a:r>
            <a:r>
              <a:rPr lang="en-US" dirty="0" smtClean="0"/>
              <a:t> with an interactive chat interface, blueprint history dashboard, startup readiness scoring, and PDF export functionality. The application communicates with </a:t>
            </a:r>
            <a:r>
              <a:rPr lang="en-US" b="1" dirty="0" smtClean="0"/>
              <a:t>IBM watsonx.ai</a:t>
            </a:r>
            <a:r>
              <a:rPr lang="en-US" dirty="0" smtClean="0"/>
              <a:t> through secure APIs to generate high-quality AI responses powered by </a:t>
            </a:r>
            <a:r>
              <a:rPr lang="en-US" b="1" dirty="0" smtClean="0"/>
              <a:t>Granite Foundation Models</a:t>
            </a:r>
            <a:r>
              <a:rPr lang="en-US" dirty="0" smtClean="0"/>
              <a:t>.</a:t>
            </a: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2" name="Google Shape;102;p35"/>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Proposed Solution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08" name="Google Shape;108;p36"/>
          <p:cNvSpPr txBox="1"/>
          <p:nvPr/>
        </p:nvSpPr>
        <p:spPr>
          <a:xfrm>
            <a:off x="777240" y="1207008"/>
            <a:ext cx="10515600" cy="6340157"/>
          </a:xfrm>
          <a:prstGeom prst="rect">
            <a:avLst/>
          </a:prstGeom>
          <a:noFill/>
          <a:ln>
            <a:noFill/>
          </a:ln>
        </p:spPr>
        <p:txBody>
          <a:bodyPr spcFirstLastPara="1" wrap="square" lIns="91425" tIns="45700" rIns="91425" bIns="45700" anchor="t" anchorCtr="0">
            <a:spAutoFit/>
          </a:bodyPr>
          <a:lstStyle/>
          <a:p>
            <a:r>
              <a:rPr lang="en-US" sz="1800" b="1" dirty="0" smtClean="0"/>
              <a:t>IBM Business Automation Open Edition (BOB)</a:t>
            </a:r>
            <a:endParaRPr lang="en-US" sz="1800" dirty="0" smtClean="0"/>
          </a:p>
          <a:p>
            <a:r>
              <a:rPr lang="en-US" sz="1800" dirty="0" smtClean="0"/>
              <a:t>Used as the cloud-based development environment to build, test, and manage the Startup Blueprint AI application. </a:t>
            </a:r>
          </a:p>
          <a:p>
            <a:r>
              <a:rPr lang="en-US" sz="1800" b="1" dirty="0" smtClean="0"/>
              <a:t>IBM watsonx.ai</a:t>
            </a:r>
            <a:endParaRPr lang="en-US" sz="1800" dirty="0" smtClean="0"/>
          </a:p>
          <a:p>
            <a:r>
              <a:rPr lang="en-US" sz="1800" dirty="0" smtClean="0"/>
              <a:t>Used to securely access and deploy IBM Granite Foundation Models for AI-powered startup blueprint generation. </a:t>
            </a:r>
          </a:p>
          <a:p>
            <a:r>
              <a:rPr lang="en-US" sz="1800" b="1" dirty="0" smtClean="0"/>
              <a:t>IBM Granite 4-h small Model</a:t>
            </a:r>
            <a:r>
              <a:rPr lang="en-US" sz="1800" dirty="0" smtClean="0"/>
              <a:t> </a:t>
            </a:r>
            <a:r>
              <a:rPr lang="en-US" sz="1800" i="1" dirty="0" smtClean="0"/>
              <a:t>( </a:t>
            </a:r>
            <a:r>
              <a:rPr lang="en-US" sz="1800" i="1" dirty="0" err="1" smtClean="0"/>
              <a:t>i</a:t>
            </a:r>
            <a:r>
              <a:rPr lang="en-US" sz="1800" dirty="0" err="1" smtClean="0"/>
              <a:t>bm</a:t>
            </a:r>
            <a:r>
              <a:rPr lang="en-US" sz="1800" dirty="0" smtClean="0"/>
              <a:t>/granite-4-h-small</a:t>
            </a:r>
            <a:r>
              <a:rPr lang="en-US" sz="1800" i="1" dirty="0" smtClean="0"/>
              <a:t>)</a:t>
            </a:r>
            <a:endParaRPr lang="en-US" sz="1800" dirty="0" smtClean="0"/>
          </a:p>
          <a:p>
            <a:r>
              <a:rPr lang="en-US" sz="1800" dirty="0" smtClean="0"/>
              <a:t>Used for natural language understanding, reasoning, idea validation, business strategy generation, and personalized startup recommendations. </a:t>
            </a:r>
          </a:p>
          <a:p>
            <a:r>
              <a:rPr lang="en-US" sz="1800" b="1" dirty="0" smtClean="0"/>
              <a:t>Python Flask</a:t>
            </a:r>
            <a:endParaRPr lang="en-US" sz="1800" dirty="0" smtClean="0"/>
          </a:p>
          <a:p>
            <a:r>
              <a:rPr lang="en-US" sz="1800" dirty="0" smtClean="0"/>
              <a:t>Used to develop the backend APIs, application logic, and manage communication between the frontend and IBM watsonx.ai. </a:t>
            </a:r>
          </a:p>
          <a:p>
            <a:r>
              <a:rPr lang="en-US" sz="1800" b="1" dirty="0" smtClean="0"/>
              <a:t>HTML, CSS, JavaScript &amp; Bootstrap</a:t>
            </a:r>
            <a:endParaRPr lang="en-US" sz="1800" dirty="0" smtClean="0"/>
          </a:p>
          <a:p>
            <a:r>
              <a:rPr lang="en-US" sz="1800" dirty="0" smtClean="0"/>
              <a:t>Used to build a responsive and interactive web interface for users to submit startup ideas and view generated blueprints. </a:t>
            </a:r>
          </a:p>
          <a:p>
            <a:r>
              <a:rPr lang="en-US" sz="1800" b="1" dirty="0" err="1" smtClean="0"/>
              <a:t>ReportLab</a:t>
            </a:r>
            <a:r>
              <a:rPr lang="en-US" sz="1800" b="1" dirty="0" smtClean="0"/>
              <a:t> / PDF Generation</a:t>
            </a:r>
            <a:endParaRPr lang="en-US" sz="1800" dirty="0" smtClean="0"/>
          </a:p>
          <a:p>
            <a:r>
              <a:rPr lang="en-US" sz="1800" dirty="0" smtClean="0"/>
              <a:t>Used to generate downloadable PDF reports of the AI-generated startup blueprint. </a:t>
            </a:r>
          </a:p>
          <a:p>
            <a:r>
              <a:rPr lang="en-US" sz="1800" b="1" dirty="0" err="1" smtClean="0"/>
              <a:t>Git</a:t>
            </a:r>
            <a:r>
              <a:rPr lang="en-US" sz="1800" b="1" dirty="0" smtClean="0"/>
              <a:t> &amp; </a:t>
            </a:r>
            <a:r>
              <a:rPr lang="en-US" sz="1800" b="1" dirty="0" err="1" smtClean="0"/>
              <a:t>GitHub</a:t>
            </a:r>
            <a:endParaRPr lang="en-US" sz="1800" dirty="0" smtClean="0"/>
          </a:p>
          <a:p>
            <a:r>
              <a:rPr lang="en-US" sz="1800" dirty="0" smtClean="0"/>
              <a:t>Used for version control, project management, and source code hosting.</a:t>
            </a: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smtClean="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738150" y="285728"/>
            <a:ext cx="6286544" cy="571504"/>
          </a:xfrm>
          <a:prstGeom prst="rect">
            <a:avLst/>
          </a:prstGeom>
          <a:noFill/>
          <a:ln>
            <a:noFill/>
          </a:ln>
        </p:spPr>
        <p:txBody>
          <a:bodyPr spcFirstLastPara="1" wrap="square" lIns="0" tIns="0" rIns="0" bIns="0" anchor="t" anchorCtr="0">
            <a:noAutofit/>
          </a:bodyPr>
          <a:lstStyle/>
          <a:p>
            <a:pPr lvl="0">
              <a:buClr>
                <a:srgbClr val="051D3A"/>
              </a:buClr>
              <a:buSzPts val="3500"/>
            </a:pPr>
            <a:r>
              <a:rPr lang="en-US" sz="2400" b="1" dirty="0" smtClean="0"/>
              <a:t>Project Components Used</a:t>
            </a:r>
            <a:r>
              <a:rPr lang="en-US" sz="2400" b="1" i="0" u="none" strike="noStrike" cap="none" dirty="0" smtClean="0">
                <a:solidFill>
                  <a:srgbClr val="000000"/>
                </a:solidFill>
                <a:latin typeface="Arial"/>
                <a:ea typeface="Arial"/>
                <a:cs typeface="Arial"/>
                <a:sym typeface="Arial"/>
              </a:rPr>
              <a:t>-</a:t>
            </a:r>
            <a:endParaRPr sz="2400" b="1" i="0" u="none" strike="noStrike" cap="none">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474822" y="863187"/>
            <a:ext cx="8823960" cy="7509708"/>
          </a:xfrm>
          <a:prstGeom prst="rect">
            <a:avLst/>
          </a:prstGeom>
          <a:noFill/>
          <a:ln>
            <a:noFill/>
          </a:ln>
        </p:spPr>
        <p:txBody>
          <a:bodyPr spcFirstLastPara="1" wrap="square" lIns="91425" tIns="45700" rIns="91425" bIns="45700" anchor="t" anchorCtr="0">
            <a:spAutoFit/>
          </a:bodyPr>
          <a:lstStyle/>
          <a:p>
            <a:r>
              <a:rPr lang="en-US" sz="1600" b="1" dirty="0" smtClean="0"/>
              <a:t>1. User Interface (HTML, CSS, JavaScript, Bootstrap)</a:t>
            </a:r>
          </a:p>
          <a:p>
            <a:r>
              <a:rPr lang="en-US" sz="1600" dirty="0" smtClean="0"/>
              <a:t>Provides an interactive and responsive interface where users can enter startup ideas, view AI-generated business blueprints, and download reports.</a:t>
            </a:r>
          </a:p>
          <a:p>
            <a:r>
              <a:rPr lang="en-US" sz="1600" b="1" dirty="0" smtClean="0"/>
              <a:t>2. Flask Backend (Python)</a:t>
            </a:r>
          </a:p>
          <a:p>
            <a:r>
              <a:rPr lang="en-US" sz="1600" dirty="0" smtClean="0"/>
              <a:t>Handles user requests, validates input, communicates with IBM watsonx.ai, manages application logic, and processes blueprint generation.</a:t>
            </a:r>
          </a:p>
          <a:p>
            <a:r>
              <a:rPr lang="en-US" sz="1600" b="1" dirty="0" smtClean="0"/>
              <a:t>3. IBM Business Automation Open Edition (BOB)</a:t>
            </a:r>
          </a:p>
          <a:p>
            <a:r>
              <a:rPr lang="en-US" sz="1600" dirty="0" smtClean="0"/>
              <a:t>Used as the development environment to build, test, and manage the Startup Blueprint AI application efficiently.</a:t>
            </a:r>
          </a:p>
          <a:p>
            <a:r>
              <a:rPr lang="en-US" sz="1600" b="1" dirty="0" smtClean="0"/>
              <a:t>4. IBM watsonx.ai</a:t>
            </a:r>
          </a:p>
          <a:p>
            <a:r>
              <a:rPr lang="en-US" sz="1600" dirty="0" smtClean="0"/>
              <a:t>Provides secure access to IBM Granite foundation models and processes AI requests to generate intelligent startup business recommendations.</a:t>
            </a:r>
          </a:p>
          <a:p>
            <a:r>
              <a:rPr lang="en-US" sz="1600" b="1" dirty="0" smtClean="0"/>
              <a:t>5. IBM Granite 3.3 4B Instruct Model</a:t>
            </a:r>
          </a:p>
          <a:p>
            <a:r>
              <a:rPr lang="en-US" sz="1600" dirty="0" smtClean="0"/>
              <a:t>Performs natural language understanding, startup idea analysis, business reasoning, and generates comprehensive startup blueprints.</a:t>
            </a:r>
          </a:p>
          <a:p>
            <a:r>
              <a:rPr lang="en-US" sz="1600" b="1" dirty="0" smtClean="0"/>
              <a:t>6. Prompt Engineering</a:t>
            </a:r>
          </a:p>
          <a:p>
            <a:r>
              <a:rPr lang="en-US" sz="1600" dirty="0" smtClean="0"/>
              <a:t>Uses predefined system instructions to guide the AI in generating structured, relevant, and consistent business plans.</a:t>
            </a:r>
          </a:p>
          <a:p>
            <a:r>
              <a:rPr lang="en-US" sz="1600" b="1" dirty="0" smtClean="0"/>
              <a:t>7. PDF Report Generator</a:t>
            </a:r>
          </a:p>
          <a:p>
            <a:r>
              <a:rPr lang="en-US" sz="1600" dirty="0" smtClean="0"/>
              <a:t>Converts the generated startup blueprint into a professional PDF document that users can download and share.</a:t>
            </a:r>
          </a:p>
          <a:p>
            <a:r>
              <a:rPr lang="en-US" sz="1600" b="1" dirty="0" smtClean="0"/>
              <a:t>8. Session History</a:t>
            </a:r>
          </a:p>
          <a:p>
            <a:r>
              <a:rPr lang="en-US" sz="1600" dirty="0" smtClean="0"/>
              <a:t>Maintains previously generated startup blueprints during the user session for quick access and comparison.</a:t>
            </a: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US" sz="2400" b="1" i="0" u="none" strike="noStrike" cap="none" dirty="0" smtClean="0">
                <a:solidFill>
                  <a:srgbClr val="051D3A"/>
                </a:solidFill>
                <a:latin typeface="Times New Roman"/>
                <a:ea typeface="Times New Roman"/>
                <a:cs typeface="Times New Roman"/>
                <a:sym typeface="Times New Roman"/>
              </a:rPr>
              <a:t>Project</a:t>
            </a:r>
            <a:r>
              <a:rPr lang="en-US" sz="3500" b="1" i="0" u="none" strike="noStrike" cap="none" dirty="0" smtClean="0">
                <a:solidFill>
                  <a:srgbClr val="051D3A"/>
                </a:solidFill>
                <a:latin typeface="Times New Roman"/>
                <a:ea typeface="Times New Roman"/>
                <a:cs typeface="Times New Roman"/>
                <a:sym typeface="Times New Roman"/>
              </a:rPr>
              <a:t> </a:t>
            </a:r>
            <a:r>
              <a:rPr lang="en-US" sz="2400" b="1" i="0" u="none" strike="noStrike" cap="none" dirty="0">
                <a:solidFill>
                  <a:srgbClr val="000000"/>
                </a:solidFill>
                <a:latin typeface="Arial"/>
                <a:ea typeface="Arial"/>
                <a:cs typeface="Arial"/>
                <a:sym typeface="Arial"/>
              </a:rPr>
              <a:t>workflow -</a:t>
            </a:r>
            <a:endParaRPr sz="2400" b="1" i="0" u="none" strike="noStrike" cap="none">
              <a:solidFill>
                <a:srgbClr val="000000"/>
              </a:solidFill>
              <a:latin typeface="Arial"/>
              <a:ea typeface="Arial"/>
              <a:cs typeface="Arial"/>
              <a:sym typeface="Arial"/>
            </a:endParaRPr>
          </a:p>
        </p:txBody>
      </p:sp>
      <p:sp>
        <p:nvSpPr>
          <p:cNvPr id="20482" name="AutoShape 2" descr="Generated image: Startup AI app workflow infographi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484" name="AutoShape 4" descr="Generated image: Startup AI app workflow infographi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486" name="AutoShape 6" descr="Generated image: Startup AI app workflow infographi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488" name="AutoShape 8" descr="Generated image: Startup AI app workflow infographi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490" name="AutoShape 10" descr="Generated image: Startup AI app workflow infographi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492" name="AutoShape 12" descr="Generated image: Startup AI app workflow infographi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2" name="Picture 11" descr="ChatGPT Image Jul 6, 2026, 03_06_52 PM.png"/>
          <p:cNvPicPr>
            <a:picLocks noChangeAspect="1"/>
          </p:cNvPicPr>
          <p:nvPr/>
        </p:nvPicPr>
        <p:blipFill>
          <a:blip r:embed="rId3"/>
          <a:stretch>
            <a:fillRect/>
          </a:stretch>
        </p:blipFill>
        <p:spPr>
          <a:xfrm>
            <a:off x="952500" y="928670"/>
            <a:ext cx="9858408" cy="564360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57166"/>
            <a:ext cx="5908929" cy="414581"/>
          </a:xfrm>
          <a:prstGeom prst="rect">
            <a:avLst/>
          </a:prstGeom>
          <a:noFill/>
          <a:ln>
            <a:noFill/>
          </a:ln>
        </p:spPr>
        <p:txBody>
          <a:bodyPr spcFirstLastPara="1" wrap="square" lIns="0" tIns="0" rIns="0" bIns="0" anchor="t" anchorCtr="0">
            <a:noAutofit/>
          </a:bodyPr>
          <a:lstStyle/>
          <a:p>
            <a:pPr lvl="0"/>
            <a:r>
              <a:rPr lang="en-US" sz="2400" dirty="0" smtClean="0"/>
              <a:t>System Architecture</a:t>
            </a:r>
            <a:endParaRPr sz="2400" b="0" i="0" u="none" strike="noStrike" cap="none">
              <a:solidFill>
                <a:srgbClr val="000000"/>
              </a:solidFill>
              <a:latin typeface="Arial"/>
              <a:ea typeface="Arial"/>
              <a:cs typeface="Arial"/>
              <a:sym typeface="Arial"/>
            </a:endParaRPr>
          </a:p>
        </p:txBody>
      </p:sp>
      <p:pic>
        <p:nvPicPr>
          <p:cNvPr id="5" name="Picture 4" descr="ChatGPT Image Jul 6, 2026, 03_11_09 PM.png"/>
          <p:cNvPicPr>
            <a:picLocks noChangeAspect="1"/>
          </p:cNvPicPr>
          <p:nvPr/>
        </p:nvPicPr>
        <p:blipFill>
          <a:blip r:embed="rId3"/>
          <a:stretch>
            <a:fillRect/>
          </a:stretch>
        </p:blipFill>
        <p:spPr>
          <a:xfrm>
            <a:off x="952500" y="714356"/>
            <a:ext cx="9929846" cy="592935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8" name="Google Shape;138;p9"/>
          <p:cNvSpPr txBox="1"/>
          <p:nvPr/>
        </p:nvSpPr>
        <p:spPr>
          <a:xfrm>
            <a:off x="475488" y="283464"/>
            <a:ext cx="9317736" cy="584735"/>
          </a:xfrm>
          <a:prstGeom prst="rect">
            <a:avLst/>
          </a:prstGeom>
          <a:noFill/>
          <a:ln>
            <a:noFill/>
          </a:ln>
        </p:spPr>
        <p:txBody>
          <a:bodyPr spcFirstLastPara="1" wrap="square" lIns="91425" tIns="45700" rIns="91425" bIns="45700" anchor="t" anchorCtr="0">
            <a:spAutoFit/>
          </a:bodyPr>
          <a:lstStyle/>
          <a:p>
            <a:pPr lvl="0"/>
            <a:r>
              <a:rPr lang="en-US" sz="3200" dirty="0" smtClean="0"/>
              <a:t>Role of AI in the Solution</a:t>
            </a:r>
            <a:endParaRPr sz="3200" b="1" i="0" u="none" strike="noStrike" cap="none">
              <a:solidFill>
                <a:srgbClr val="000000"/>
              </a:solidFill>
              <a:latin typeface="Arial"/>
              <a:ea typeface="Arial"/>
              <a:cs typeface="Arial"/>
              <a:sym typeface="Arial"/>
            </a:endParaRPr>
          </a:p>
        </p:txBody>
      </p:sp>
      <p:sp>
        <p:nvSpPr>
          <p:cNvPr id="139" name="Google Shape;139;p9"/>
          <p:cNvSpPr txBox="1"/>
          <p:nvPr/>
        </p:nvSpPr>
        <p:spPr>
          <a:xfrm>
            <a:off x="621792" y="1167493"/>
            <a:ext cx="7406640" cy="4616608"/>
          </a:xfrm>
          <a:prstGeom prst="rect">
            <a:avLst/>
          </a:prstGeom>
          <a:noFill/>
          <a:ln>
            <a:noFill/>
          </a:ln>
        </p:spPr>
        <p:txBody>
          <a:bodyPr spcFirstLastPara="1" wrap="square" lIns="91425" tIns="45700" rIns="91425" bIns="45700" anchor="t" anchorCtr="0">
            <a:spAutoFit/>
          </a:bodyPr>
          <a:lstStyle/>
          <a:p>
            <a:r>
              <a:rPr lang="en-US" dirty="0" smtClean="0"/>
              <a:t>The Startup Blueprint AI platform leverages </a:t>
            </a:r>
            <a:r>
              <a:rPr lang="en-US" b="1" dirty="0" err="1" smtClean="0"/>
              <a:t>Agentic</a:t>
            </a:r>
            <a:r>
              <a:rPr lang="en-US" b="1" dirty="0" smtClean="0"/>
              <a:t> AI</a:t>
            </a:r>
            <a:r>
              <a:rPr lang="en-US" dirty="0" smtClean="0"/>
              <a:t> to assist aspiring entrepreneurs in transforming a startup idea into a structured business blueprint. Instead of providing generic responses, the AI acts as an intelligent business consultant by analyzing user input and generating personalized recommendations.</a:t>
            </a:r>
          </a:p>
          <a:p>
            <a:endParaRPr lang="en-US" dirty="0" smtClean="0"/>
          </a:p>
          <a:p>
            <a:r>
              <a:rPr lang="en-US" dirty="0" smtClean="0"/>
              <a:t>The solution uses the </a:t>
            </a:r>
            <a:r>
              <a:rPr lang="en-US" b="1" dirty="0" smtClean="0"/>
              <a:t>IBM Granite 4-H Small Instruct Model</a:t>
            </a:r>
            <a:r>
              <a:rPr lang="en-US" dirty="0" smtClean="0"/>
              <a:t> hosted on </a:t>
            </a:r>
            <a:r>
              <a:rPr lang="en-US" b="1" dirty="0" smtClean="0"/>
              <a:t>IBM watsonx.ai</a:t>
            </a:r>
            <a:r>
              <a:rPr lang="en-US" dirty="0" smtClean="0"/>
              <a:t> for natural language understanding, reasoning, and business content generation. Based on the startup idea entered by the user, the AI creates a comprehensive blueprint containing business strategy, market analysis, revenue model, funding suggestions, risk assessment, and implementation roadmap.</a:t>
            </a:r>
          </a:p>
          <a:p>
            <a:endParaRPr lang="en-US" dirty="0" smtClean="0"/>
          </a:p>
          <a:p>
            <a:r>
              <a:rPr lang="en-US" dirty="0" smtClean="0"/>
              <a:t>The AI performs the following key functions:</a:t>
            </a:r>
          </a:p>
          <a:p>
            <a:r>
              <a:rPr lang="en-US" b="1" dirty="0" smtClean="0"/>
              <a:t>Idea Understanding:</a:t>
            </a:r>
            <a:r>
              <a:rPr lang="en-US" dirty="0" smtClean="0"/>
              <a:t> Interprets the startup concept using natural language processing. </a:t>
            </a:r>
          </a:p>
          <a:p>
            <a:r>
              <a:rPr lang="en-US" b="1" dirty="0" smtClean="0"/>
              <a:t>Idea Validation:</a:t>
            </a:r>
            <a:r>
              <a:rPr lang="en-US" dirty="0" smtClean="0"/>
              <a:t> Evaluates feasibility, innovation, scalability, and business potential. </a:t>
            </a:r>
          </a:p>
          <a:p>
            <a:r>
              <a:rPr lang="en-US" b="1" dirty="0" smtClean="0"/>
              <a:t>Blueprint Generation:</a:t>
            </a:r>
            <a:r>
              <a:rPr lang="en-US" dirty="0" smtClean="0"/>
              <a:t> Produces a detailed startup plan with structured sections. </a:t>
            </a:r>
          </a:p>
          <a:p>
            <a:r>
              <a:rPr lang="en-US" b="1" dirty="0" smtClean="0"/>
              <a:t>Business Readiness Scoring:</a:t>
            </a:r>
            <a:r>
              <a:rPr lang="en-US" dirty="0" smtClean="0"/>
              <a:t> Calculates a readiness score based on the overall quality and viability of the idea. </a:t>
            </a:r>
          </a:p>
          <a:p>
            <a:r>
              <a:rPr lang="en-US" b="1" dirty="0" smtClean="0"/>
              <a:t>Personalized Recommendations:</a:t>
            </a:r>
            <a:r>
              <a:rPr lang="en-US" dirty="0" smtClean="0"/>
              <a:t> Suggests suitable business models, marketing strategies, funding options, and growth plans tailored to the startup. </a:t>
            </a:r>
          </a:p>
          <a:p>
            <a:r>
              <a:rPr lang="en-US" b="1" dirty="0" smtClean="0"/>
              <a:t>Report Generation:</a:t>
            </a:r>
            <a:r>
              <a:rPr lang="en-US" dirty="0" smtClean="0"/>
              <a:t> Generates a professional blueprint that can be downloaded as </a:t>
            </a:r>
            <a:r>
              <a:rPr lang="en-US" dirty="0" err="1" smtClean="0"/>
              <a:t>pdf</a:t>
            </a:r>
            <a:r>
              <a:rPr lang="en-US" dirty="0" smtClean="0"/>
              <a:t>.</a:t>
            </a:r>
          </a:p>
          <a:p>
            <a:pPr marL="0" marR="0" lvl="0" indent="0" algn="l" rtl="0">
              <a:lnSpc>
                <a:spcPct val="100000"/>
              </a:lnSpc>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9"/>
          <p:cNvSpPr/>
          <p:nvPr/>
        </p:nvSpPr>
        <p:spPr>
          <a:xfrm>
            <a:off x="793192" y="341560"/>
            <a:ext cx="6444496" cy="704017"/>
          </a:xfrm>
          <a:prstGeom prst="rect">
            <a:avLst/>
          </a:prstGeom>
          <a:noFill/>
          <a:ln>
            <a:noFill/>
          </a:ln>
        </p:spPr>
        <p:txBody>
          <a:bodyPr spcFirstLastPara="1" wrap="square" lIns="0" tIns="0" rIns="0" bIns="0" anchor="t" anchorCtr="0">
            <a:noAutofit/>
          </a:bodyPr>
          <a:lstStyle/>
          <a:p>
            <a:pPr lvl="0">
              <a:lnSpc>
                <a:spcPct val="157142"/>
              </a:lnSpc>
            </a:pPr>
            <a:r>
              <a:rPr lang="en-US" sz="2400" dirty="0" smtClean="0"/>
              <a:t>IBM Granite Model Usage &amp; Prompt Flow</a:t>
            </a:r>
            <a:endParaRPr sz="2400" b="1" i="0" u="none" strike="noStrike" cap="none">
              <a:solidFill>
                <a:srgbClr val="000000"/>
              </a:solidFill>
              <a:latin typeface="Arial"/>
              <a:ea typeface="Arial"/>
              <a:cs typeface="Arial"/>
              <a:sym typeface="Arial"/>
            </a:endParaRPr>
          </a:p>
        </p:txBody>
      </p:sp>
      <p:sp>
        <p:nvSpPr>
          <p:cNvPr id="145" name="Google Shape;145;p39"/>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6" name="Google Shape;146;p39"/>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7" name="Google Shape;147;p39"/>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8" name="Google Shape;148;p39"/>
          <p:cNvSpPr txBox="1"/>
          <p:nvPr/>
        </p:nvSpPr>
        <p:spPr>
          <a:xfrm>
            <a:off x="897392" y="1042133"/>
            <a:ext cx="6341616" cy="5570715"/>
          </a:xfrm>
          <a:prstGeom prst="rect">
            <a:avLst/>
          </a:prstGeom>
          <a:noFill/>
          <a:ln>
            <a:noFill/>
          </a:ln>
        </p:spPr>
        <p:txBody>
          <a:bodyPr spcFirstLastPara="1" wrap="square" lIns="91425" tIns="45700" rIns="91425" bIns="45700" anchor="t" anchorCtr="0">
            <a:spAutoFit/>
          </a:bodyPr>
          <a:lstStyle/>
          <a:p>
            <a:r>
              <a:rPr lang="en-US" sz="1600" b="1" dirty="0" smtClean="0"/>
              <a:t>Model Used:</a:t>
            </a:r>
            <a:r>
              <a:rPr lang="en-US" sz="1600" dirty="0" smtClean="0"/>
              <a:t> IBM </a:t>
            </a:r>
            <a:r>
              <a:rPr lang="en-US" sz="1600" b="1" dirty="0" smtClean="0"/>
              <a:t>Granite 4-H Small Instruct</a:t>
            </a:r>
            <a:r>
              <a:rPr lang="en-US" sz="1600" dirty="0" smtClean="0"/>
              <a:t> (via IBM watsonx.ai)</a:t>
            </a:r>
            <a:endParaRPr lang="en-US" sz="1800" dirty="0" smtClean="0"/>
          </a:p>
          <a:p>
            <a:r>
              <a:rPr lang="en-US" sz="1600" b="1" dirty="0" smtClean="0"/>
              <a:t>Prompt Flow:</a:t>
            </a:r>
          </a:p>
          <a:p>
            <a:endParaRPr lang="en-US" b="1" dirty="0" smtClean="0"/>
          </a:p>
          <a:p>
            <a:r>
              <a:rPr lang="en-US" dirty="0" smtClean="0"/>
              <a:t>User Startup Idea</a:t>
            </a:r>
          </a:p>
          <a:p>
            <a:r>
              <a:rPr lang="en-US" dirty="0" smtClean="0"/>
              <a:t>        │</a:t>
            </a:r>
          </a:p>
          <a:p>
            <a:r>
              <a:rPr lang="en-US" dirty="0" smtClean="0"/>
              <a:t>        ▼</a:t>
            </a:r>
          </a:p>
          <a:p>
            <a:r>
              <a:rPr lang="en-US" dirty="0" smtClean="0"/>
              <a:t>System Prompt</a:t>
            </a:r>
          </a:p>
          <a:p>
            <a:r>
              <a:rPr lang="en-US" dirty="0" smtClean="0"/>
              <a:t>(AI Business Consultant Instructions)</a:t>
            </a:r>
          </a:p>
          <a:p>
            <a:r>
              <a:rPr lang="en-US" dirty="0" smtClean="0"/>
              <a:t>        │</a:t>
            </a:r>
          </a:p>
          <a:p>
            <a:r>
              <a:rPr lang="en-US" dirty="0" smtClean="0"/>
              <a:t>        ▼</a:t>
            </a:r>
          </a:p>
          <a:p>
            <a:r>
              <a:rPr lang="en-US" dirty="0" smtClean="0"/>
              <a:t>User Prompt</a:t>
            </a:r>
          </a:p>
          <a:p>
            <a:r>
              <a:rPr lang="en-US" dirty="0" smtClean="0"/>
              <a:t>(Startup Idea)</a:t>
            </a:r>
          </a:p>
          <a:p>
            <a:r>
              <a:rPr lang="en-US" dirty="0" smtClean="0"/>
              <a:t>        │</a:t>
            </a:r>
          </a:p>
          <a:p>
            <a:r>
              <a:rPr lang="en-US" dirty="0" smtClean="0"/>
              <a:t>        ▼</a:t>
            </a:r>
          </a:p>
          <a:p>
            <a:r>
              <a:rPr lang="en-US" dirty="0" smtClean="0"/>
              <a:t>IBM Granite 4-H Small Model</a:t>
            </a:r>
          </a:p>
          <a:p>
            <a:r>
              <a:rPr lang="en-US" dirty="0" smtClean="0"/>
              <a:t>        │</a:t>
            </a:r>
          </a:p>
          <a:p>
            <a:r>
              <a:rPr lang="en-US" dirty="0" smtClean="0"/>
              <a:t>        ▼</a:t>
            </a:r>
          </a:p>
          <a:p>
            <a:r>
              <a:rPr lang="en-US" dirty="0" smtClean="0"/>
              <a:t>AI Processing &amp; Reasoning</a:t>
            </a:r>
          </a:p>
          <a:p>
            <a:r>
              <a:rPr lang="en-US" dirty="0" smtClean="0"/>
              <a:t>        │</a:t>
            </a:r>
          </a:p>
          <a:p>
            <a:r>
              <a:rPr lang="en-US" dirty="0" smtClean="0"/>
              <a:t>        ▼</a:t>
            </a:r>
          </a:p>
          <a:p>
            <a:r>
              <a:rPr lang="en-US" dirty="0" smtClean="0"/>
              <a:t>Generated Startup Blueprint</a:t>
            </a:r>
          </a:p>
          <a:p>
            <a:r>
              <a:rPr lang="en-US" dirty="0" smtClean="0"/>
              <a:t>        │</a:t>
            </a:r>
          </a:p>
          <a:p>
            <a:r>
              <a:rPr lang="en-US" dirty="0" smtClean="0"/>
              <a:t>        ▼</a:t>
            </a:r>
          </a:p>
          <a:p>
            <a:r>
              <a:rPr lang="en-US" dirty="0" smtClean="0"/>
              <a:t>Business Readiness Score + PDF Report</a:t>
            </a:r>
          </a:p>
          <a:p>
            <a:pPr marL="0" marR="0" lvl="0" indent="0" algn="l" rtl="0">
              <a:lnSpc>
                <a:spcPct val="100000"/>
              </a:lnSpc>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ChangeAspect="1" noChangeArrowheads="1"/>
          </p:cNvPicPr>
          <p:nvPr/>
        </p:nvPicPr>
        <p:blipFill>
          <a:blip r:embed="rId2"/>
          <a:srcRect/>
          <a:stretch>
            <a:fillRect/>
          </a:stretch>
        </p:blipFill>
        <p:spPr bwMode="auto">
          <a:xfrm>
            <a:off x="380960" y="241300"/>
            <a:ext cx="11501518" cy="6373813"/>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Novelty and Uniqueness</a:t>
            </a:r>
            <a:endParaRPr sz="2400" b="1" i="0" u="none" strike="noStrike" cap="none">
              <a:solidFill>
                <a:srgbClr val="000000"/>
              </a:solidFill>
              <a:latin typeface="Arial"/>
              <a:ea typeface="Arial"/>
              <a:cs typeface="Arial"/>
              <a:sym typeface="Arial"/>
            </a:endParaRPr>
          </a:p>
        </p:txBody>
      </p:sp>
      <p:sp>
        <p:nvSpPr>
          <p:cNvPr id="158" name="Google Shape;158;p40"/>
          <p:cNvSpPr txBox="1"/>
          <p:nvPr/>
        </p:nvSpPr>
        <p:spPr>
          <a:xfrm>
            <a:off x="777240" y="1207008"/>
            <a:ext cx="11301984" cy="4924385"/>
          </a:xfrm>
          <a:prstGeom prst="rect">
            <a:avLst/>
          </a:prstGeom>
          <a:noFill/>
          <a:ln>
            <a:noFill/>
          </a:ln>
        </p:spPr>
        <p:txBody>
          <a:bodyPr spcFirstLastPara="1" wrap="square" lIns="91425" tIns="45700" rIns="91425" bIns="45700" anchor="t" anchorCtr="0">
            <a:spAutoFit/>
          </a:bodyPr>
          <a:lstStyle/>
          <a:p>
            <a:r>
              <a:rPr lang="en-US" sz="2000" dirty="0" smtClean="0"/>
              <a:t>1. </a:t>
            </a:r>
            <a:r>
              <a:rPr lang="en-US" sz="2000" b="1" dirty="0" smtClean="0"/>
              <a:t>AI-Driven Startup Planning:</a:t>
            </a:r>
            <a:r>
              <a:rPr lang="en-US" sz="2000" dirty="0" smtClean="0"/>
              <a:t> Converts a simple startup idea into a complete business blueprint within minutes using IBM Granite 4-H Small. </a:t>
            </a:r>
          </a:p>
          <a:p>
            <a:r>
              <a:rPr lang="en-US" sz="2000" b="1" dirty="0" smtClean="0"/>
              <a:t>2. Comprehensive Business Analysis:</a:t>
            </a:r>
            <a:r>
              <a:rPr lang="en-US" sz="2000" dirty="0" smtClean="0"/>
              <a:t> Automatically generates market analysis, SWOT analysis, revenue model, funding suggestions, legal guidance, and growth roadmap in one platform. </a:t>
            </a:r>
          </a:p>
          <a:p>
            <a:r>
              <a:rPr lang="en-US" sz="2000" dirty="0" smtClean="0"/>
              <a:t>3. </a:t>
            </a:r>
            <a:r>
              <a:rPr lang="en-US" sz="2000" b="1" dirty="0" smtClean="0"/>
              <a:t>Business Readiness Score:</a:t>
            </a:r>
            <a:r>
              <a:rPr lang="en-US" sz="2000" dirty="0" smtClean="0"/>
              <a:t> Evaluates the feasibility and potential of a startup idea with AI-generated insights and recommendations. </a:t>
            </a:r>
          </a:p>
          <a:p>
            <a:r>
              <a:rPr lang="en-US" sz="2000" dirty="0" smtClean="0"/>
              <a:t>4.  </a:t>
            </a:r>
            <a:r>
              <a:rPr lang="en-US" sz="2000" b="1" dirty="0" smtClean="0"/>
              <a:t>Professional PDF Export:</a:t>
            </a:r>
            <a:r>
              <a:rPr lang="en-US" sz="2000" dirty="0" smtClean="0"/>
              <a:t> Allows users to download investor-ready business blueprints as a formatted PDF. </a:t>
            </a:r>
          </a:p>
          <a:p>
            <a:r>
              <a:rPr lang="en-US" sz="2000" dirty="0" smtClean="0"/>
              <a:t>5. </a:t>
            </a:r>
            <a:r>
              <a:rPr lang="en-US" sz="2000" b="1" dirty="0" smtClean="0"/>
              <a:t>User-Friendly Web Application:</a:t>
            </a:r>
            <a:r>
              <a:rPr lang="en-US" sz="2000" dirty="0" smtClean="0"/>
              <a:t> Built with Flask and integrated with IBM watsonx.ai to provide an intuitive and responsive experience. </a:t>
            </a:r>
          </a:p>
          <a:p>
            <a:r>
              <a:rPr lang="en-US" sz="2000" dirty="0" smtClean="0"/>
              <a:t>6. </a:t>
            </a:r>
            <a:r>
              <a:rPr lang="en-US" sz="2000" b="1" dirty="0" smtClean="0"/>
              <a:t>Supports First-Time Entrepreneurs:</a:t>
            </a:r>
            <a:r>
              <a:rPr lang="en-US" sz="2000" dirty="0" smtClean="0"/>
              <a:t> Reduces the need for extensive business expertise by offering AI-powered planning and decision support. </a:t>
            </a:r>
          </a:p>
          <a:p>
            <a:endParaRPr lang="en-US" sz="2000" dirty="0" smtClean="0"/>
          </a:p>
          <a:p>
            <a:r>
              <a:rPr lang="en-US" sz="2000" dirty="0" smtClean="0"/>
              <a:t>This content is concise, presentation-friendly, and highlights what makes your project different.</a:t>
            </a: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4" name="Google Shape;164;p41"/>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b="0" i="0" u="none" strike="noStrike" cap="none" dirty="0" err="1" smtClean="0">
                <a:solidFill>
                  <a:srgbClr val="2B3541"/>
                </a:solidFill>
                <a:latin typeface="+mn-lt"/>
                <a:ea typeface="Times New Roman"/>
                <a:cs typeface="Times New Roman"/>
                <a:sym typeface="Times New Roman"/>
              </a:rPr>
              <a:t>Github</a:t>
            </a:r>
            <a:r>
              <a:rPr lang="en-US" sz="1850" b="0" i="0" u="none" strike="noStrike" cap="none" dirty="0" smtClean="0">
                <a:solidFill>
                  <a:srgbClr val="2B3541"/>
                </a:solidFill>
                <a:latin typeface="+mn-lt"/>
                <a:ea typeface="Times New Roman"/>
                <a:cs typeface="Times New Roman"/>
                <a:sym typeface="Times New Roman"/>
              </a:rPr>
              <a:t> </a:t>
            </a:r>
            <a:r>
              <a:rPr lang="en-US" sz="1850" b="0" i="0" u="none" strike="noStrike" cap="none" dirty="0">
                <a:solidFill>
                  <a:srgbClr val="2B3541"/>
                </a:solidFill>
                <a:latin typeface="+mn-lt"/>
                <a:ea typeface="Times New Roman"/>
                <a:cs typeface="Times New Roman"/>
                <a:sym typeface="Times New Roman"/>
              </a:rPr>
              <a:t>URL </a:t>
            </a:r>
            <a:r>
              <a:rPr lang="en-US" sz="1850" dirty="0" smtClean="0">
                <a:solidFill>
                  <a:srgbClr val="2B3541"/>
                </a:solidFill>
                <a:latin typeface="+mn-lt"/>
                <a:ea typeface="Times New Roman"/>
                <a:cs typeface="Times New Roman"/>
                <a:sym typeface="Times New Roman"/>
              </a:rPr>
              <a:t>–  </a:t>
            </a:r>
            <a:r>
              <a:rPr lang="en-US" sz="1850" dirty="0" smtClean="0">
                <a:solidFill>
                  <a:srgbClr val="2B3541"/>
                </a:solidFill>
                <a:latin typeface="+mn-lt"/>
                <a:ea typeface="Times New Roman"/>
                <a:cs typeface="Times New Roman"/>
                <a:sym typeface="Times New Roman"/>
                <a:hlinkClick r:id="rId3"/>
              </a:rPr>
              <a:t>https://github.com/KhushiAgarwal10/AI-Startup-Blueprint-Agent</a:t>
            </a:r>
            <a:endParaRPr>
              <a:latin typeface="+mn-lt"/>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smtClean="0">
                <a:solidFill>
                  <a:srgbClr val="000000"/>
                </a:solidFill>
                <a:latin typeface="Times New Roman"/>
                <a:ea typeface="Times New Roman"/>
                <a:cs typeface="Times New Roman"/>
                <a:sym typeface="Times New Roman"/>
              </a:rPr>
              <a:t>   </a:t>
            </a:r>
            <a:endParaRPr sz="1850" b="0" i="0" u="none" strike="noStrike" cap="none">
              <a:solidFill>
                <a:srgbClr val="000000"/>
              </a:solidFill>
              <a:latin typeface="Times New Roman"/>
              <a:ea typeface="Times New Roman"/>
              <a:cs typeface="Times New Roman"/>
              <a:sym typeface="Times New Roman"/>
            </a:endParaRPr>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3" name="Google Shape;173;p42"/>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US" sz="1800" b="1" dirty="0" smtClean="0"/>
              <a:t>1. Multi-Agent Business Assistance</a:t>
            </a:r>
          </a:p>
          <a:p>
            <a:r>
              <a:rPr lang="en-US" sz="1800" dirty="0" smtClean="0"/>
              <a:t>Enhance the system by introducing specialized AI agents for finance, legal compliance, marketing, and investment advisory, enabling entrepreneurs to receive more comprehensive and domain-specific business guidance.</a:t>
            </a:r>
          </a:p>
          <a:p>
            <a:endParaRPr lang="en-US" sz="1800" dirty="0" smtClean="0"/>
          </a:p>
          <a:p>
            <a:r>
              <a:rPr lang="en-US" sz="1800" b="1" dirty="0" smtClean="0"/>
              <a:t>2. Real-Time Market Intelligence</a:t>
            </a:r>
          </a:p>
          <a:p>
            <a:r>
              <a:rPr lang="en-US" sz="1800" dirty="0" smtClean="0"/>
              <a:t>Integrate live market data, startup trends, competitor information, and government schemes to generate more accurate, up-to-date, and data-driven business blueprints and recommendations.</a:t>
            </a:r>
          </a:p>
          <a:p>
            <a:endParaRPr lang="en-US" sz="1800" dirty="0" smtClean="0"/>
          </a:p>
          <a:p>
            <a:r>
              <a:rPr lang="en-US" sz="1800" b="1" dirty="0" smtClean="0"/>
              <a:t>3. Cloud Deployment &amp; Collaboration</a:t>
            </a:r>
          </a:p>
          <a:p>
            <a:r>
              <a:rPr lang="en-US" sz="1800" dirty="0" smtClean="0"/>
              <a:t>Deploy the application on IBM Cloud with secure user authentication, project storage, and collaboration features, allowing multiple users to create, manage, and share startup blueprints efficiently</a:t>
            </a:r>
            <a:r>
              <a:rPr lang="en-US" sz="2000" dirty="0" smtClean="0"/>
              <a:t>.</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3" name="Google Shape;183;p43"/>
          <p:cNvSpPr txBox="1"/>
          <p:nvPr/>
        </p:nvSpPr>
        <p:spPr>
          <a:xfrm>
            <a:off x="552048" y="690061"/>
            <a:ext cx="638996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a:solidFill>
                  <a:srgbClr val="000000"/>
                </a:solidFill>
                <a:latin typeface="Arial"/>
                <a:ea typeface="Arial"/>
                <a:cs typeface="Arial"/>
                <a:sym typeface="Arial"/>
              </a:rPr>
              <a:t>Please  add your credly certificate </a:t>
            </a:r>
            <a:endParaRPr/>
          </a:p>
        </p:txBody>
      </p:sp>
      <p:pic>
        <p:nvPicPr>
          <p:cNvPr id="6145" name="Picture 1"/>
          <p:cNvPicPr>
            <a:picLocks noChangeAspect="1" noChangeArrowheads="1"/>
          </p:cNvPicPr>
          <p:nvPr/>
        </p:nvPicPr>
        <p:blipFill>
          <a:blip r:embed="rId3"/>
          <a:srcRect/>
          <a:stretch>
            <a:fillRect/>
          </a:stretch>
        </p:blipFill>
        <p:spPr bwMode="auto">
          <a:xfrm>
            <a:off x="2120900" y="1285860"/>
            <a:ext cx="7945438" cy="5205428"/>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ChangeAspect="1" noChangeArrowheads="1"/>
          </p:cNvPicPr>
          <p:nvPr/>
        </p:nvPicPr>
        <p:blipFill>
          <a:blip r:embed="rId2"/>
          <a:srcRect/>
          <a:stretch>
            <a:fillRect/>
          </a:stretch>
        </p:blipFill>
        <p:spPr bwMode="auto">
          <a:xfrm>
            <a:off x="2159000" y="500042"/>
            <a:ext cx="7869238" cy="5786478"/>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0" name="Google Shape;190;p44"/>
          <p:cNvSpPr txBox="1"/>
          <p:nvPr/>
        </p:nvSpPr>
        <p:spPr>
          <a:xfrm>
            <a:off x="496843" y="800470"/>
            <a:ext cx="543768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00000"/>
                </a:solidFill>
                <a:latin typeface="Arial"/>
                <a:ea typeface="Arial"/>
                <a:cs typeface="Arial"/>
                <a:sym typeface="Arial"/>
              </a:rPr>
              <a:t>Add your IBM BOB Certificate</a:t>
            </a:r>
            <a:endParaRPr/>
          </a:p>
        </p:txBody>
      </p:sp>
      <p:pic>
        <p:nvPicPr>
          <p:cNvPr id="5" name="Picture 4" descr="Screenshot 2026-07-06 152916.png"/>
          <p:cNvPicPr>
            <a:picLocks noChangeAspect="1"/>
          </p:cNvPicPr>
          <p:nvPr/>
        </p:nvPicPr>
        <p:blipFill>
          <a:blip r:embed="rId3"/>
          <a:stretch>
            <a:fillRect/>
          </a:stretch>
        </p:blipFill>
        <p:spPr>
          <a:xfrm>
            <a:off x="1790099" y="1214422"/>
            <a:ext cx="8611802" cy="528641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TotalTime>
  <Words>1606</Words>
  <PresentationFormat>Custom</PresentationFormat>
  <Paragraphs>153</Paragraphs>
  <Slides>18</Slides>
  <Notes>16</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IBM University Engagement Project Submission </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IBM University Engagement Project Submission</dc:title>
  <dc:creator>Manda Anirudh</dc:creator>
  <cp:lastModifiedBy>hp</cp:lastModifiedBy>
  <cp:revision>14</cp:revision>
  <dcterms:created xsi:type="dcterms:W3CDTF">2025-07-08T05:06:56Z</dcterms:created>
  <dcterms:modified xsi:type="dcterms:W3CDTF">2026-07-09T05:35:49Z</dcterms:modified>
</cp:coreProperties>
</file>